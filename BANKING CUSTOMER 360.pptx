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EEC97A3-09E5-45EE-8451-A25D6C86A4B3}">
          <p14:sldIdLst>
            <p14:sldId id="256"/>
            <p14:sldId id="257"/>
            <p14:sldId id="258"/>
            <p14:sldId id="259"/>
          </p14:sldIdLst>
        </p14:section>
        <p14:section name="Untitled Section" id="{95DD404D-0C6E-4B77-B6AB-269373DFE5DF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4B250F-D2F2-4C36-B0DF-4E0FBA199565}" v="8" dt="2025-11-23T09:14:39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001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6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91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512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894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260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277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129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732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70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21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332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270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8864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972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248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281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BE5FE1F-44C1-4263-8034-53F0A82943C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1378A0A-9401-4C71-A8E7-A7AE5E5A3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40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A91F2-B344-D826-EE61-C27C0C3AA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651820"/>
            <a:ext cx="6815669" cy="1415846"/>
          </a:xfrm>
        </p:spPr>
        <p:txBody>
          <a:bodyPr/>
          <a:lstStyle/>
          <a:p>
            <a:r>
              <a:rPr lang="en-IN" sz="4000" dirty="0"/>
              <a:t>BANKING : CUSTOMER 360*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16C68A-6549-E6C1-35D1-85796C14C6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sz="2400" dirty="0"/>
              <a:t>PRESENTED BY: JASMEEN KAUR (72513562)</a:t>
            </a:r>
          </a:p>
          <a:p>
            <a:r>
              <a:rPr lang="en-IN" sz="2400" dirty="0"/>
              <a:t>BALRAJ SINGH CHHINA (72510266)</a:t>
            </a:r>
          </a:p>
          <a:p>
            <a:r>
              <a:rPr lang="en-IN" sz="2400" dirty="0"/>
              <a:t>PRABHJOT KAUR CHHINA (72510265)</a:t>
            </a:r>
          </a:p>
          <a:p>
            <a:r>
              <a:rPr lang="en-IN" sz="2400" dirty="0"/>
              <a:t>GURSIMRAN KAUR (72514677)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CD0103-0421-EE4B-0191-DD264568C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505" y="66368"/>
            <a:ext cx="2219635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3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5FCED-CA95-FF5F-D4E8-19F12A778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E43BA-C223-1443-A39C-692326E11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9352" y="2556932"/>
            <a:ext cx="8646289" cy="3318936"/>
          </a:xfrm>
        </p:spPr>
        <p:txBody>
          <a:bodyPr/>
          <a:lstStyle/>
          <a:p>
            <a:r>
              <a:rPr lang="en-IN" dirty="0"/>
              <a:t>Modern banking is becoming </a:t>
            </a:r>
            <a:r>
              <a:rPr lang="en-IN" b="1" dirty="0"/>
              <a:t>more digital and customer focused.</a:t>
            </a:r>
          </a:p>
          <a:p>
            <a:r>
              <a:rPr lang="en-IN" dirty="0"/>
              <a:t>To provide </a:t>
            </a:r>
            <a:r>
              <a:rPr lang="en-IN" b="1" dirty="0"/>
              <a:t>better service</a:t>
            </a:r>
            <a:r>
              <a:rPr lang="en-IN" dirty="0"/>
              <a:t>, banks need </a:t>
            </a:r>
            <a:r>
              <a:rPr lang="en-IN" b="1" dirty="0"/>
              <a:t>a full picture of each customer.</a:t>
            </a:r>
          </a:p>
          <a:p>
            <a:r>
              <a:rPr lang="en-IN" dirty="0"/>
              <a:t>A customer 360  dashboard helps banks </a:t>
            </a:r>
            <a:r>
              <a:rPr lang="en-IN" b="1" dirty="0"/>
              <a:t>collect, </a:t>
            </a:r>
            <a:r>
              <a:rPr lang="en-IN" b="1" dirty="0" err="1"/>
              <a:t>analyze</a:t>
            </a:r>
            <a:r>
              <a:rPr lang="en-IN" b="1" dirty="0"/>
              <a:t>, and visualize </a:t>
            </a:r>
            <a:r>
              <a:rPr lang="en-IN" dirty="0"/>
              <a:t>all customer information in one place.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C0AD10-7F54-37EC-FD60-5449E03BA3EC}"/>
              </a:ext>
            </a:extLst>
          </p:cNvPr>
          <p:cNvSpPr/>
          <p:nvPr/>
        </p:nvSpPr>
        <p:spPr>
          <a:xfrm>
            <a:off x="3569110" y="3667432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8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C45-537E-6410-3BDF-F4A5503A3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MEANING OF CUSTOMER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92341-6B53-5099-A775-A738E49F9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803489" cy="3318936"/>
          </a:xfrm>
        </p:spPr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single unified view </a:t>
            </a:r>
            <a:r>
              <a:rPr lang="en-IN" dirty="0"/>
              <a:t>of a customer’s entire relationship with the bank.</a:t>
            </a:r>
          </a:p>
          <a:p>
            <a:r>
              <a:rPr lang="en-IN" dirty="0"/>
              <a:t>Combines data from multiple sources such as : </a:t>
            </a:r>
            <a:r>
              <a:rPr lang="en-IN" b="1" dirty="0"/>
              <a:t>ACCOUNTS, LOANS, TRANSACTIONS</a:t>
            </a:r>
          </a:p>
          <a:p>
            <a:r>
              <a:rPr lang="en-IN" dirty="0"/>
              <a:t>Helps the bank understand </a:t>
            </a:r>
            <a:r>
              <a:rPr lang="en-IN" b="1" dirty="0"/>
              <a:t>customer needs and behaviour.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CF4CB9-318B-284E-CB78-0FAFC18F1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119" y="2835798"/>
            <a:ext cx="3727049" cy="293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40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C75CF-F205-A083-18BE-5EE125082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3CE5A-4C54-7DA3-B28E-F6CAB6A4B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3807541" cy="331893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CUSTOMER PROFIT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ACCOUNT SUMMARY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TRANSACTION HISTORY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LOAN &amp; CREDIT DETAILS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PREDICTIVE ANALYTICS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CUSTOMER INTERACTION HISTORY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EA9756-102A-2A2E-F585-F0A43D245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180" y="2511337"/>
            <a:ext cx="4669418" cy="317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71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FDCF-BA73-56A3-9839-AFC8385C4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DO BANK NEED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C0C79-523F-05B4-2EAC-737DC1CF8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898922" cy="3318936"/>
          </a:xfrm>
        </p:spPr>
        <p:txBody>
          <a:bodyPr>
            <a:normAutofit fontScale="925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Enhance </a:t>
            </a:r>
            <a:r>
              <a:rPr lang="en-IN" b="1" dirty="0"/>
              <a:t>customer experience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Speeds up </a:t>
            </a:r>
            <a:r>
              <a:rPr lang="en-IN" b="1" dirty="0"/>
              <a:t>decision making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Helps in </a:t>
            </a:r>
            <a:r>
              <a:rPr lang="en-IN" b="1" dirty="0"/>
              <a:t>fraud detection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Improves </a:t>
            </a:r>
            <a:r>
              <a:rPr lang="en-IN" b="1" dirty="0"/>
              <a:t>relationship management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Supports </a:t>
            </a:r>
            <a:r>
              <a:rPr lang="en-IN" b="1" dirty="0"/>
              <a:t>cross selling and upselling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Enables </a:t>
            </a:r>
            <a:r>
              <a:rPr lang="en-IN" b="1" dirty="0"/>
              <a:t>personalised banking services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AF30E2-E58D-DCD1-4356-E5686F8F51EF}"/>
              </a:ext>
            </a:extLst>
          </p:cNvPr>
          <p:cNvSpPr txBox="1"/>
          <p:nvPr/>
        </p:nvSpPr>
        <p:spPr>
          <a:xfrm>
            <a:off x="7501465" y="3141132"/>
            <a:ext cx="2844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Snap ITC" panose="04040A07060A02020202" pitchFamily="82" charset="0"/>
              </a:rPr>
              <a:t>WHY</a:t>
            </a:r>
          </a:p>
        </p:txBody>
      </p:sp>
    </p:spTree>
    <p:extLst>
      <p:ext uri="{BB962C8B-B14F-4D97-AF65-F5344CB8AC3E}">
        <p14:creationId xmlns:p14="http://schemas.microsoft.com/office/powerpoint/2010/main" val="107530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94C2A-993F-E59E-CFB8-AAA7255B1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FOR BANKS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BDB83-FED7-F70A-D666-46327F62A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466302" cy="3318936"/>
          </a:xfrm>
        </p:spPr>
        <p:txBody>
          <a:bodyPr/>
          <a:lstStyle/>
          <a:p>
            <a:r>
              <a:rPr lang="en-IN" b="1" dirty="0"/>
              <a:t>BETTER CUSTOMER UNDERSTANDING</a:t>
            </a:r>
          </a:p>
          <a:p>
            <a:r>
              <a:rPr lang="en-IN" b="1" dirty="0"/>
              <a:t>FASTER SERVICE</a:t>
            </a:r>
          </a:p>
          <a:p>
            <a:r>
              <a:rPr lang="en-IN" b="1" dirty="0"/>
              <a:t>DATA DRIVEN DECISIONS</a:t>
            </a:r>
          </a:p>
          <a:p>
            <a:r>
              <a:rPr lang="en-IN" b="1" dirty="0"/>
              <a:t>EFFICIENT RISK MANAGEMENT</a:t>
            </a:r>
          </a:p>
          <a:p>
            <a:pPr marL="0" indent="0">
              <a:buNone/>
            </a:pPr>
            <a:endParaRPr lang="en-IN" b="1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78A157-0408-CD97-6614-FE8C4064C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615" y="2696900"/>
            <a:ext cx="3692324" cy="317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524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54666-9C02-2AC6-B4CD-A59002129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FOR CUSTOMERS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3BD68-C129-38FB-D1E0-1C2EE947F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800599" cy="3318936"/>
          </a:xfrm>
        </p:spPr>
        <p:txBody>
          <a:bodyPr>
            <a:normAutofit fontScale="92500" lnSpcReduction="10000"/>
          </a:bodyPr>
          <a:lstStyle/>
          <a:p>
            <a:r>
              <a:rPr lang="en-IN" sz="3200" dirty="0"/>
              <a:t>Personalized </a:t>
            </a:r>
            <a:r>
              <a:rPr lang="en-IN" sz="3200" b="1" dirty="0"/>
              <a:t>product offers</a:t>
            </a:r>
          </a:p>
          <a:p>
            <a:r>
              <a:rPr lang="en-IN" sz="3200" dirty="0"/>
              <a:t>Faster </a:t>
            </a:r>
            <a:r>
              <a:rPr lang="en-IN" sz="3200" b="1" dirty="0"/>
              <a:t>issue resolution</a:t>
            </a:r>
          </a:p>
          <a:p>
            <a:r>
              <a:rPr lang="en-IN" sz="3200" dirty="0"/>
              <a:t>More </a:t>
            </a:r>
            <a:r>
              <a:rPr lang="en-IN" sz="3200" b="1" dirty="0"/>
              <a:t>transparent</a:t>
            </a:r>
            <a:r>
              <a:rPr lang="en-IN" sz="3200" dirty="0"/>
              <a:t> banking</a:t>
            </a:r>
          </a:p>
          <a:p>
            <a:r>
              <a:rPr lang="en-IN" sz="3200" dirty="0"/>
              <a:t>Smooth </a:t>
            </a:r>
            <a:r>
              <a:rPr lang="en-IN" sz="3200" b="1" dirty="0"/>
              <a:t>digital experience</a:t>
            </a:r>
          </a:p>
          <a:p>
            <a:r>
              <a:rPr lang="en-IN" sz="3200" dirty="0"/>
              <a:t>More </a:t>
            </a:r>
            <a:r>
              <a:rPr lang="en-IN" sz="3200" b="1" dirty="0"/>
              <a:t>secure and reliable </a:t>
            </a:r>
            <a:r>
              <a:rPr lang="en-IN" sz="3200" dirty="0"/>
              <a:t>services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039E3-73D8-9571-EA80-38AFB5CD0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329" y="2754775"/>
            <a:ext cx="4646269" cy="287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97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0CB6-A5E6-7C3D-004D-FA99B0D8A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DASHBOARD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B4D8E-0582-709B-1447-A8DEEADCB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209571" cy="3318936"/>
          </a:xfrm>
        </p:spPr>
        <p:txBody>
          <a:bodyPr/>
          <a:lstStyle/>
          <a:p>
            <a:r>
              <a:rPr lang="en-IN" b="1" dirty="0"/>
              <a:t>Pie chart </a:t>
            </a:r>
            <a:r>
              <a:rPr lang="en-IN" dirty="0"/>
              <a:t>showing account distribution</a:t>
            </a:r>
          </a:p>
          <a:p>
            <a:r>
              <a:rPr lang="en-IN" b="1" dirty="0"/>
              <a:t>Graph</a:t>
            </a:r>
            <a:r>
              <a:rPr lang="en-IN" dirty="0"/>
              <a:t> of monthly transactions</a:t>
            </a:r>
          </a:p>
          <a:p>
            <a:r>
              <a:rPr lang="en-IN" dirty="0"/>
              <a:t>Credit </a:t>
            </a:r>
            <a:r>
              <a:rPr lang="en-IN" b="1" dirty="0"/>
              <a:t>score meter</a:t>
            </a:r>
          </a:p>
          <a:p>
            <a:r>
              <a:rPr lang="en-IN" b="1" dirty="0"/>
              <a:t>Alerts</a:t>
            </a:r>
            <a:r>
              <a:rPr lang="en-IN" dirty="0"/>
              <a:t> and recommendations </a:t>
            </a:r>
          </a:p>
          <a:p>
            <a:r>
              <a:rPr lang="en-IN" dirty="0"/>
              <a:t>Customer lifetime value </a:t>
            </a:r>
            <a:r>
              <a:rPr lang="en-IN" b="1" dirty="0"/>
              <a:t>scoring </a:t>
            </a:r>
          </a:p>
          <a:p>
            <a:r>
              <a:rPr lang="en-IN" dirty="0"/>
              <a:t>Recent </a:t>
            </a:r>
            <a:r>
              <a:rPr lang="en-IN" b="1" dirty="0"/>
              <a:t>interactions</a:t>
            </a:r>
            <a:r>
              <a:rPr lang="en-IN" dirty="0"/>
              <a:t> timeline </a:t>
            </a:r>
          </a:p>
        </p:txBody>
      </p:sp>
      <p:sp>
        <p:nvSpPr>
          <p:cNvPr id="4" name="Thought Bubble: Cloud 3">
            <a:extLst>
              <a:ext uri="{FF2B5EF4-FFF2-40B4-BE49-F238E27FC236}">
                <a16:creationId xmlns:a16="http://schemas.microsoft.com/office/drawing/2014/main" id="{2590877E-6BCD-E697-4F2B-5A9E9A952D3D}"/>
              </a:ext>
            </a:extLst>
          </p:cNvPr>
          <p:cNvSpPr/>
          <p:nvPr/>
        </p:nvSpPr>
        <p:spPr>
          <a:xfrm rot="187256">
            <a:off x="7687017" y="3035003"/>
            <a:ext cx="2778191" cy="1838568"/>
          </a:xfrm>
          <a:prstGeom prst="cloudCallou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323AC-2C37-A3C4-4CB1-9AD90026E052}"/>
              </a:ext>
            </a:extLst>
          </p:cNvPr>
          <p:cNvSpPr txBox="1"/>
          <p:nvPr/>
        </p:nvSpPr>
        <p:spPr>
          <a:xfrm>
            <a:off x="8365067" y="3725333"/>
            <a:ext cx="1888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erlin Sans FB Demi" panose="020E0802020502020306" pitchFamily="34" charset="0"/>
              </a:rPr>
              <a:t>EXAMPLE</a:t>
            </a:r>
            <a:endParaRPr lang="en-IN" sz="20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991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68402-4BEF-98B0-D7A0-93CF8A715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REAL WORLD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83DA6-3652-695A-AC19-0E7B1363B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526665" cy="3318936"/>
          </a:xfrm>
        </p:spPr>
        <p:txBody>
          <a:bodyPr/>
          <a:lstStyle/>
          <a:p>
            <a:r>
              <a:rPr lang="en-IN" b="1" dirty="0"/>
              <a:t>ATM fraud detection </a:t>
            </a:r>
            <a:r>
              <a:rPr lang="en-IN" dirty="0"/>
              <a:t>based on unusual activity</a:t>
            </a:r>
          </a:p>
          <a:p>
            <a:r>
              <a:rPr lang="en-IN" b="1" dirty="0"/>
              <a:t>Personalized loan </a:t>
            </a:r>
            <a:r>
              <a:rPr lang="en-IN" dirty="0"/>
              <a:t>offers for customers with good transaction patterns</a:t>
            </a:r>
          </a:p>
          <a:p>
            <a:r>
              <a:rPr lang="en-IN" b="1" dirty="0"/>
              <a:t>Tracking customer complaints </a:t>
            </a:r>
            <a:r>
              <a:rPr lang="en-IN" dirty="0"/>
              <a:t>to improve service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64DFDE-3073-32DE-03B5-5404DAD48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995" y="2662177"/>
            <a:ext cx="3970116" cy="304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01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ACE59-2EA8-8B05-E132-FF23BCD56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0B09A-6DBB-43E4-6595-1CD9ECFF3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190999" cy="3318936"/>
          </a:xfrm>
        </p:spPr>
        <p:txBody>
          <a:bodyPr/>
          <a:lstStyle/>
          <a:p>
            <a:r>
              <a:rPr lang="en-IN" b="1" dirty="0"/>
              <a:t>DATA WAREHOUSE</a:t>
            </a:r>
          </a:p>
          <a:p>
            <a:r>
              <a:rPr lang="en-IN" b="1" dirty="0"/>
              <a:t>CRM SYSTEMS</a:t>
            </a:r>
          </a:p>
          <a:p>
            <a:r>
              <a:rPr lang="en-IN" b="1" dirty="0"/>
              <a:t>AI &amp; MACHINE LEARNING</a:t>
            </a:r>
          </a:p>
          <a:p>
            <a:r>
              <a:rPr lang="en-IN" b="1" dirty="0"/>
              <a:t>CLOUD PLATFORMS</a:t>
            </a:r>
          </a:p>
          <a:p>
            <a:r>
              <a:rPr lang="en-IN" b="1" dirty="0"/>
              <a:t>DATA VISUALIZATION TOOLS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139E31-BED5-8ACE-F1F8-0D9CF6646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926" y="2556932"/>
            <a:ext cx="4292664" cy="313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392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B0DB-A0EB-9538-96AE-F9975AF04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EB822-97BC-C5DE-6506-681A180AA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3843758" cy="331893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DATA PRIVACY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INTEGRATION OF MULTIPLE SYSTEMS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MAINTAINING REAL TIME UPDATES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ENSURING ACCURACY OF CUSTOMER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14969-1ED9-1404-41BD-1C15C6A9E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159" y="2556932"/>
            <a:ext cx="5757439" cy="331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84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D8858-AC66-4033-21A8-031C1CDE8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B8520-5304-EF1C-8F9F-0F05ED609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7056" y="2556932"/>
            <a:ext cx="6239719" cy="33189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IN" sz="3500" dirty="0"/>
              <a:t>A Customer 360 degree dashboard is becoming essential for modern banking .</a:t>
            </a:r>
          </a:p>
          <a:p>
            <a:pPr marL="0" indent="0">
              <a:buNone/>
            </a:pPr>
            <a:r>
              <a:rPr lang="en-IN" sz="3500" dirty="0"/>
              <a:t>It helps banks </a:t>
            </a:r>
            <a:r>
              <a:rPr lang="en-IN" sz="3500" b="1" dirty="0"/>
              <a:t>provide better, faster, and personalized services </a:t>
            </a:r>
            <a:r>
              <a:rPr lang="en-IN" sz="3500" dirty="0"/>
              <a:t>, while supporting </a:t>
            </a:r>
            <a:r>
              <a:rPr lang="en-IN" sz="3500" b="1" dirty="0"/>
              <a:t>secure and data driven banking operations.</a:t>
            </a:r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739F0D47-5678-8907-6E65-DB7964AB4B0B}"/>
              </a:ext>
            </a:extLst>
          </p:cNvPr>
          <p:cNvSpPr/>
          <p:nvPr/>
        </p:nvSpPr>
        <p:spPr>
          <a:xfrm>
            <a:off x="8043333" y="2793995"/>
            <a:ext cx="2599267" cy="2624666"/>
          </a:xfrm>
          <a:prstGeom prst="smileyFac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530227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100</TotalTime>
  <Words>320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Berlin Sans FB Demi</vt:lpstr>
      <vt:lpstr>Courier New</vt:lpstr>
      <vt:lpstr>Garamond</vt:lpstr>
      <vt:lpstr>Snap ITC</vt:lpstr>
      <vt:lpstr>Wingdings</vt:lpstr>
      <vt:lpstr>Organic</vt:lpstr>
      <vt:lpstr>BANKING : CUSTOMER 360* DASHBOARD</vt:lpstr>
      <vt:lpstr>INTRODUCTION</vt:lpstr>
      <vt:lpstr>MEANING OF CUSTOMER DASHBOARD</vt:lpstr>
      <vt:lpstr>KEY FEATURES</vt:lpstr>
      <vt:lpstr>WHY DO BANK NEED IT?</vt:lpstr>
      <vt:lpstr>BENEFITS FOR BANKS</vt:lpstr>
      <vt:lpstr>BENEFITS FOR CUSTOMERS</vt:lpstr>
      <vt:lpstr>EXAMPLE DASHBOARD COMPONENTS</vt:lpstr>
      <vt:lpstr> REAL WORLD USE CASES</vt:lpstr>
      <vt:lpstr>TECHNOLOGY USED</vt:lpstr>
      <vt:lpstr>CHALLENGES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rajdeep78887@gmail.com</dc:creator>
  <cp:lastModifiedBy>Balraj Singh Chhina</cp:lastModifiedBy>
  <cp:revision>5</cp:revision>
  <dcterms:created xsi:type="dcterms:W3CDTF">2025-11-23T05:16:30Z</dcterms:created>
  <dcterms:modified xsi:type="dcterms:W3CDTF">2025-11-30T00:44:26Z</dcterms:modified>
</cp:coreProperties>
</file>